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Открыть историей с защиты: команда показала отличную модель, первый вопрос комиссии — «а что изменилось в деньгах?». Тишина. Это и есть предмет 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Разогрев-опрос рук. Смешинка и есть диагноз, который лечим.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секунд на пары, 2–3 ответа вслух.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Ответ: первый — метрику берут по умолчанию, потом «AUC вырос, а бизнес нет».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3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C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TALENT HUB · ИТМО · БЛОК «ПРОДУКТОВОЕ МЫШЛЕНИЕ»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Продуктовая и маркетинговая аналитика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</a:t>
            </a:r>
            <a:pPr indent="0" marL="0">
              <a:buNone/>
            </a:pPr>
            <a:r>
              <a:rPr lang="en-US" sz="2200" dirty="0">
                <a:solidFill>
                  <a:srgbClr val="C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как способ думать о бизнесе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15568" y="4498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 и роль аналитики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4480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950208" y="4498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метрик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0" y="4480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784848" y="4498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Воронка и причинность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052560" y="4480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19488" y="4498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Юнит-экономика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5349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15568" y="53675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0" y="5349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50208" y="53675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Атрибуция и конкуренты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5349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784848" y="53675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Удержание и цена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52560" y="5349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19488" y="53675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Эксперимент и решение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A0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лекций + 8 занятий · 3 з.е. · зачёт по мини-проекту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ЛЕКЦИЯ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 ЭТОТ КУРС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 что изменилось в деньгах?»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обучила рекомендательную модель. Offline-метрики выросли, демонстрация прошла на ура.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0241280" cy="1371600"/>
          </a:xfrm>
          <a:prstGeom prst="roundRect">
            <a:avLst>
              <a:gd name="adj" fmla="val 5333"/>
            </a:avLst>
          </a:prstGeom>
          <a:solidFill>
            <a:srgbClr val="EDF4E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вопрос комиссии: «А что изменилось в бизнес-метрике?» — в комнате тишина.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43434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была отличная. Ответа не было.</a:t>
            </a:r>
            <a:endParaRPr lang="en-US" sz="1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Разрыв между «модель работает» и «бизнес стал лучше» — предмет этого курса.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48640" y="58064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 залу: кто хоть раз обучал модель «потому что было в задании», не спросив, что изменит решение?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ЛЕКЦИЯ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ОБЕЩАЕМ НА ВЫХОДЕ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Цель: принимать и защищать продуктовые решения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193852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Переводит задачу бизнеса в гипотезу, а не в «давайте обучим модель»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97880" y="192024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37960" y="193852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Собирает систему метрик: NSM, дерево, guardrails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88720" y="296265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Читает воронку и когорты, не путая корреляцию с эффектом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897880" y="294436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537960" y="296265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 юнит-экономику в сегментах, зная, когда среднее врёт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396849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88720" y="398678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Оценивает канал привлечения с трекингом и без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897880" y="396849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537960" y="398678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Понимает, почему last-click врут, и что такое инкрементальность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499262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88720" y="501091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Ставит задачи на удержание и цену, не субсидируя «и так купят»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897880" y="499262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537960" y="501091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Проектирует проверку эффекта и упаковывает вывод для CPO/CMO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048756" y="2103120"/>
            <a:ext cx="0" cy="384048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ЛЕКЦИЯ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ЗАРАБАТЫВАЕТ DIGITAL-КОМПАНИЯ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 → пользователь → деньги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EDF4E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решаем задачу лучше, чем альтернатива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7588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206240" y="210312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EDF4EF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48056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приходит, остается, возвращается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3348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863840" y="210312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1E6B47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13816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EF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кто-то платит — и это устойчиво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343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аналитика — измерение того, доходит ли ценность до пользователя и конвертируется ли в деньги. Модель может быть рычагом в любом звене: конверсия, отток, средний чек, цена привлечения.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48640" y="56235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 залу: возьмите продукт, которым пользовались сегодня. Кто платит? За что? Что случится с деньгами, если завтра уберут любимую фичу?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ЛЕКЦИЯ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ЗАРАБАТЫВАЕТ DIGITAL-КОМПАНИЯ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моделей монетизации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011680"/>
                <a:gridCol w="1554480"/>
                <a:gridCol w="2743200"/>
                <a:gridCol w="2468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 платит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Ключевая метрика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Примеры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Маркетплейс / комиссия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продавец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заказ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GMV, take rate, повторы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Ozon, Авито, «Лукошко»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Подписка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пользователь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подписчик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MRR, churn, LTV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Netflix, SaaS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Реклама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рекламодатель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внимание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DAU, время, eCPM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соцсети, медиа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Финтех / транзакция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платящий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транзакция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TPV, ARPU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банки, СБП-сервисы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Коммерция / e-com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покупатель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заказ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маржа, оборачиваемость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WB, доставка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— наименьшая единица, на которой можно посчитать заработок. Ошибка выбрать «не тот» unit делает экономику красивой в отчёте и убыточной в кассе (неделя 4).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ЛЕКЦИЯ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СКВОЗНОЙ ПРОДУКТ КУРСА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Маркетплейс «Лукошко»: повседневные товары за 90 минут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548640" y="281635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MAU · DAU/MAU ≈ 0,32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0" y="19202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200400" y="2816352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₽ GMV в месяц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09360" y="1920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6309360" y="281635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— платят продавцы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0" y="1920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961120" y="28163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после логистики и промо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091672" cy="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06908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— заказ. </a:t>
            </a:r>
            <a:pPr indent="0" marL="0">
              <a:buNone/>
            </a:pPr>
            <a:r>
              <a:rPr lang="en-US" sz="18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 1 850 ₽, маржа с заказа ≈ 167 ₽. Активация — первый заказ ≤ 7 дней (26%), aha-момент — второй заказ ≤ 30 дней: удержание ×3.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«Лукошке» идёт каждая неделя: воронка (3), экономика (4), каналы (5), атрибуция (6), скидки (7), эксперимент (8). Дома ту же рамку тянете на свой проект.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ЛЕКЦИЯ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ЗА ЧТО ОТВЕЧАЕТ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функции — четыре вопроса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47672"/>
            <a:ext cx="502920" cy="502920"/>
          </a:xfrm>
          <a:prstGeom prst="ellipse">
            <a:avLst/>
          </a:prstGeom>
          <a:solidFill>
            <a:srgbClr val="1E6B4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874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749040" y="18745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«Что построить, чтобы ценность росла?»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0" y="190195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конверсия · удержание · активация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11091672" cy="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999232"/>
            <a:ext cx="502920" cy="502920"/>
          </a:xfrm>
          <a:prstGeom prst="ellipse">
            <a:avLst/>
          </a:prstGeom>
          <a:solidFill>
            <a:srgbClr val="1E6B47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2926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Маркетинг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749040" y="2926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«Как о нас узнают и приходят?»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869680" y="295351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· каналы · доля органики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11091672" cy="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50792"/>
            <a:ext cx="502920" cy="502920"/>
          </a:xfrm>
          <a:prstGeom prst="ellipse">
            <a:avLst/>
          </a:prstGeom>
          <a:solidFill>
            <a:srgbClr val="1E6B47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050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977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749040" y="3977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«Как делать быстро и не ломать?»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869680" y="400507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скорость · надёжность · стоимость фичи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892040"/>
            <a:ext cx="11091672" cy="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25880" y="50292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 / ML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3749040" y="502920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«Какие рычаги автоматизации возможны?»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869680" y="505663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качество моделей · эффект в проде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60807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ATH-проектах вы почти всегда embedded: аналитик — это вы. Курс — про умение быть «переводчиком» между бизнес-вопросом и моделью.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ЛЕКЦИЯ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ТЕРЯЕТСЯ СМЫСЛ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Эстафета со сломанным переводом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331720" cy="1691640"/>
          </a:xfrm>
          <a:prstGeom prst="roundRect">
            <a:avLst>
              <a:gd name="adj" fmla="val 4324"/>
            </a:avLst>
          </a:prstGeom>
          <a:solidFill>
            <a:srgbClr val="EDF4EF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269748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«Что-то отток растёт»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889504" y="269748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291840" y="2103120"/>
            <a:ext cx="2331720" cy="1691640"/>
          </a:xfrm>
          <a:prstGeom prst="roundRect">
            <a:avLst>
              <a:gd name="adj" fmla="val 4324"/>
            </a:avLst>
          </a:prstGeom>
          <a:solidFill>
            <a:srgbClr val="EDF4EF"/>
          </a:solidFill>
          <a:ln/>
        </p:spPr>
      </p:sp>
      <p:sp>
        <p:nvSpPr>
          <p:cNvPr id="10" name="Text 8"/>
          <p:cNvSpPr/>
          <p:nvPr/>
        </p:nvSpPr>
        <p:spPr>
          <a:xfrm>
            <a:off x="3493008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93008" y="269748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«Нужна churn-модель»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32704" y="269748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035040" y="2103120"/>
            <a:ext cx="2331720" cy="1691640"/>
          </a:xfrm>
          <a:prstGeom prst="roundRect">
            <a:avLst>
              <a:gd name="adj" fmla="val 4324"/>
            </a:avLst>
          </a:prstGeom>
          <a:solidFill>
            <a:srgbClr val="EDF4EF"/>
          </a:solidFill>
          <a:ln/>
        </p:spPr>
      </p:sp>
      <p:sp>
        <p:nvSpPr>
          <p:cNvPr id="14" name="Text 12"/>
          <p:cNvSpPr/>
          <p:nvPr/>
        </p:nvSpPr>
        <p:spPr>
          <a:xfrm>
            <a:off x="6236208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36208" y="269748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«Обучите классификатор оттока»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75904" y="269748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778240" y="2103120"/>
            <a:ext cx="2331720" cy="1691640"/>
          </a:xfrm>
          <a:prstGeom prst="roundRect">
            <a:avLst>
              <a:gd name="adj" fmla="val 4324"/>
            </a:avLst>
          </a:prstGeom>
          <a:solidFill>
            <a:srgbClr val="E8590C"/>
          </a:solidFill>
          <a:ln/>
        </p:spPr>
      </p:sp>
      <p:sp>
        <p:nvSpPr>
          <p:cNvPr id="18" name="Text 16"/>
          <p:cNvSpPr/>
          <p:nvPr/>
        </p:nvSpPr>
        <p:spPr>
          <a:xfrm>
            <a:off x="8979408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E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месяц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79408" y="269748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0.87 · отток не сдвинулся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42519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Кто-то должен был спросить: что мы будем делать с предсказанием — и как оно вернёт деньги?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48640" y="50292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 роль — аналитик в широком смысле. Не «человек-функция качества модели»: сформулировал задачу, построил, измерил эффект, ответил бизнесу.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ЛЕКЦИЯ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ТИПЫ ЗАДАЧ АНАЛИТИКА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жанров работы — и главная ошибка новичка в каждом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468880"/>
                <a:gridCol w="2834640"/>
                <a:gridCol w="32004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Жанр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Вопрос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Артефакт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Ошибка новичка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Дашборд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дела?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витрина + графики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мониторить всё подряд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Ad-hoc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почему так вышло?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короткий ответ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ответить корреляцией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Исследование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устроено?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инсайт + рекомендации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копать без связи с решением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Эксперимент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изменит X?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вывод катить/не катить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оценивать по прокси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Аналитический проект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делать?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модель + план + эффект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сделать модель вместо ответа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43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— это спектр, а не «дашборды» и не «ML». Спор о жанре — частая причина конфликтов: ad-hoc ждут за час, проект — за месяц.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ЛЕКЦИЯ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РАЗНЫЕ ЖАНРЫ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«Задача на Kaggle» и «вопрос бизнеса»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9768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KAGGLE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0" y="1783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297680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дана: RMSE, AUC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0" y="22860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надо придумать — это половина задачи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127248"/>
            <a:ext cx="11091672" cy="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918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297680" y="3246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даны, чистые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498080" y="32461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нет; логирование кривое — сначала починить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087368"/>
            <a:ext cx="11091672" cy="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519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ошибки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297680" y="4206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лидерборде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98080" y="42062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деньги, доверие, иногда люди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5047488"/>
            <a:ext cx="11091672" cy="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212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429768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сабмит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98080" y="51663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решение, которое кто-то примет и за которое ответит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172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 залу: какой пункт чаще всего игнорируют ML-инженеры?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ЛЕКЦИЯ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ФРЕЙМВОРК НА ВЕСЬ КУРС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шагов — повторяем каждую неделю, каждый раз глубже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1E6B4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842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023360" y="20116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вопрос бизнеса? кто и что изменит от ответа?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2104" y="2551176"/>
            <a:ext cx="0" cy="237744"/>
          </a:xfrm>
          <a:prstGeom prst="line">
            <a:avLst/>
          </a:prstGeom>
          <a:noFill/>
          <a:ln w="19050">
            <a:solidFill>
              <a:srgbClr val="1E6B4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807208"/>
            <a:ext cx="566928" cy="566928"/>
          </a:xfrm>
          <a:prstGeom prst="ellipse">
            <a:avLst/>
          </a:prstGeom>
          <a:solidFill>
            <a:srgbClr val="1E6B4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8072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17320" y="282549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ВОРОНКА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023360" y="285292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в пути пользователя это живёт? где болит?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32104" y="3392424"/>
            <a:ext cx="0" cy="237744"/>
          </a:xfrm>
          <a:prstGeom prst="line">
            <a:avLst/>
          </a:prstGeom>
          <a:noFill/>
          <a:ln w="19050">
            <a:solidFill>
              <a:srgbClr val="1E6B4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648456"/>
            <a:ext cx="566928" cy="566928"/>
          </a:xfrm>
          <a:prstGeom prst="ellipse">
            <a:avLst/>
          </a:prstGeom>
          <a:solidFill>
            <a:srgbClr val="1E6B47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648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17320" y="36667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023360" y="369417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измерим успех и вред?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32104" y="4233672"/>
            <a:ext cx="0" cy="237744"/>
          </a:xfrm>
          <a:prstGeom prst="line">
            <a:avLst/>
          </a:prstGeom>
          <a:noFill/>
          <a:ln w="19050">
            <a:solidFill>
              <a:srgbClr val="1E6B4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89704"/>
            <a:ext cx="566928" cy="566928"/>
          </a:xfrm>
          <a:prstGeom prst="ellipse">
            <a:avLst/>
          </a:prstGeom>
          <a:solidFill>
            <a:srgbClr val="1E6B47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4897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17320" y="45079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023360" y="45354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стоит и принесёт? в каких сегментах иначе?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2104" y="5074920"/>
            <a:ext cx="0" cy="237744"/>
          </a:xfrm>
          <a:prstGeom prst="line">
            <a:avLst/>
          </a:prstGeom>
          <a:noFill/>
          <a:ln w="19050">
            <a:solidFill>
              <a:srgbClr val="1E6B4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5330952"/>
            <a:ext cx="566928" cy="566928"/>
          </a:xfrm>
          <a:prstGeom prst="ellipse">
            <a:avLst/>
          </a:prstGeom>
          <a:solidFill>
            <a:srgbClr val="1E6B47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5330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41732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023360" y="537667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докажем эффект? A/B или что-то честнее?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" y="6263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 всем — ML-рычаг: в какой точке модель реально нужна, а в какой это карго-культ.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ML-ПРИМЕР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КВАРТАЛ РАБОТЫ RECSYS «ЛУКОШКО»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Offline-метрики выросли. Деньги — нет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406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  <a:gridCol w="1554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Метрика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Было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Стало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4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NDCG@10 (offline)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6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CTR главной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6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Конверсия карточка → заказ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859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Доля возвратов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859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GMV на пользователя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1 640 ₽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1 590 ₽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859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Маржа на пользователя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 ₽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24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 ₽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859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321040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случилось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21040" y="2240280"/>
            <a:ext cx="3200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оптимизировала клик — и выучила кликбейт: яркие, дешёвые, «как у соседа» товары низкого качества. Клик есть, покупка по инерции, возврат — двойная логистика ≈ 250 ₽ убытка и раздражение.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51206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Целевая функция отвечала на вопрос «на что нажмут», а не «что купят и вернут».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ML-ПРИМЕР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 RECSYS: РАЗБОР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шагов фреймворка — что пропустили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108960" y="1874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задан: задача была «улучшить рекомендации», а не «увеличить ценность за визит»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11091672" cy="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6243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ВОРОНКА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108960" y="26243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смотрели только верх (клик), не смотрели вниз — возвраты, повторные покупки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264408"/>
            <a:ext cx="11091672" cy="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741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108960" y="337413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было guardrail: маржа, возвраты, повторный заказ в 30 дней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014216"/>
            <a:ext cx="11091672" cy="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1239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412394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никто не посчитал: CTR × маржа покупки − маржа возврата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764024"/>
            <a:ext cx="11091672" cy="0"/>
          </a:xfrm>
          <a:prstGeom prst="line">
            <a:avLst/>
          </a:prstGeom>
          <a:noFill/>
          <a:ln w="12700">
            <a:solidFill>
              <a:srgbClr val="D8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108960" y="48737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катали по offline-метрике; A/B с guardrail поймал бы за 2 недели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58064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Кому должно было быть больно: </a:t>
            </a:r>
            <a:pPr indent="0" marL="0">
              <a:buNone/>
            </a:pPr>
            <a:r>
              <a:rPr lang="en-US" sz="15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категорийному менеджеру (возвраты = штрафы), логистике (обратный поток), CFO (маржа). Никто из них не был в ревью модели.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62872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ML-ПРИМЕР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КЕЙС, КОРОЧЕ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9079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LLM-фича с отличными evals, которой никто не пользуется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 / 5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548640" y="299923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качество саммари отзывов по evals (разметка)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23360" y="21031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0,4%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023360" y="299923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через месяц: 2 человека из 500 в день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Диагноз: фича решала задачу, которой у пользователя нет — отзывы перед покупкой FMCG читают 7%, и «лайк» разметчика ≠ боль покупателя.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5029200"/>
            <a:ext cx="10424160" cy="1051560"/>
          </a:xfrm>
          <a:prstGeom prst="roundRect">
            <a:avLst>
              <a:gd name="adj" fmla="val 6957"/>
            </a:avLst>
          </a:prstGeom>
          <a:solidFill>
            <a:srgbClr val="EDF4E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521208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6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Качество модели ≠ ценность фичи. Ценность = (сколько людей в какой боли) × (насколько решает). Считаем до разработки, а не после.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3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 · ДОМАШКА И ЗАНЯТИЕ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Принести: головы. Ноутбук не нужен.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FC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ДОМАШКА — одна страница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C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 проект магистратуры (или любой знакомый продукт) в бизнес-рамке: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пользователь и в чём ценность · кто платит · unit · вопрос бизнеса · гипотеза «если X, то Y» · метрика успеха и вреда · место ML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0" y="2468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FC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ЗАНЯТИЕ — кейс-воркшоп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0" y="288036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CFE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«заявки на модель» от руководства «Лукошко».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Переписываем в: вопрос → гипотеза → на кого влияет → чем измерим успех и вред → нужен ли ML вообще.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недели — сломать рефлекс «сначала модель».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60350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A0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Следующая неделя: система метрик — NSM, дерево, guardrails. Практика: retention и когорты на данных «Лукошко».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000232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A0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Неделя 1 · Аналитика как способ думать о бизнесе</dc:title>
  <dc:subject>PptxGenJS Presentation</dc:subject>
  <dc:creator>Курс «Продуктовая и маркетинговая аналитика»</dc:creator>
  <cp:lastModifiedBy>Курс «Продуктовая и маркетинговая аналитика»</cp:lastModifiedBy>
  <cp:revision>1</cp:revision>
  <dcterms:created xsi:type="dcterms:W3CDTF">2026-09-01T06:10:42Z</dcterms:created>
  <dcterms:modified xsi:type="dcterms:W3CDTF">2026-09-01T06:10:42Z</dcterms:modified>
</cp:coreProperties>
</file>