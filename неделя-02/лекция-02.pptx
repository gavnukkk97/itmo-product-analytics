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 · ИТМО · БЛОК «ПРОДУКТОВОЕ МЫШЛЕНИЕ»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метрик продукта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</a:t>
            </a:r>
            <a:pPr indent="0" marL="0"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NSM, дерево метрик, guardrails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лекций + 8 занятий · 3 з.е. · зачёт по мини-проекту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Когорты и retention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2180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Stickiness DAU/MAU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и guardrails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Метрика-договор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МЕТРИКА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— это не число, а договор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 «стало лучше или хуже» без договора — спор о вкусах. Договор фиксируется гипотезой If / Then / Because: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DF4E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81635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сделаем 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58768" y="31546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251960" y="26517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DF4EF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281635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53128" y="3200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Y изменится на Z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62088" y="31546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955280" y="26517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D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281635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56448" y="3200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механизм: почему это сработает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«Because» — самое ценное: без механизма это не гипотеза, а надежда.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число ≠ метрика: метрика — число с вопросом, владельцем и горизонтом.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ДОЛЖНА БЫТЬ РАБОЧАЯ МЕТРИКА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требования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4206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Отражает ценность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0" y="1856232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«сессии» — активность; «заказы» — ценность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852928"/>
            <a:ext cx="4206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Сравнима между сегментами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скачет от состава трафика → барометр с треснувшим стеклом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877056"/>
            <a:ext cx="4206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Движущая, не запаздывающая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904488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реагирует на действия раньше, чем на это отреагируют деньги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791456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901184"/>
            <a:ext cx="4206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геймится дёшево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4928616"/>
            <a:ext cx="5486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любая метрика — инструкция «как хорошо выглядеть»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залу: как обмануть метрику «средняя скорость доставки заказа»?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метрика ценности, на которую смотрят все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NSM — сколько ценности продукт доставляет пользователям (и через это — деньгам). Одна — потому что она снимает конфликты целей между командами.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Airbnb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423160" y="27706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забронированные ночи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978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0" y="27706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прослушивания — тут время и есть ценность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23160" y="382219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отправленные сообщения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9788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Авито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72400" y="382219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состоявшиеся сделки (не контакты!)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NSM «Лукошко»: заказов в месяц на активного покупателя — частота отражает закрытую бытовую потребность и тянет GMV.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АНТИ-ПРИМЕР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«время в приложении» — чаще плохой NSM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вход, а не ценность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1947672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легко растёт при плохом UX: дольше ищешь товар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монетизируется напрямую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3044952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кроме медиа и рекламных моделей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1148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Геймится механиками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4142232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выжигает когорту — см. кейс пушей в конце лекции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Исключение — медиа/рекламные модели: там время потребления и есть ценность.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КАНДИДАТА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на NSM: три вопроса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 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метрика вырастет вдвое — станем ли мы богаче?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" y="2551176"/>
            <a:ext cx="0" cy="768096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35584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плохой продукт?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338328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растёт ли она и у плохого продукта?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" y="3922776"/>
            <a:ext cx="0" cy="768096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72744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понятно всем?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475488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понимает ли её менеджер первого уровня?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«да» — рабочая NSM. Любое «нет» — метрика-вход или vanity.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МЕТРИК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денег к действию пользователя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778240" cy="731520"/>
          </a:xfrm>
          <a:prstGeom prst="roundRect">
            <a:avLst>
              <a:gd name="adj" fmla="val 7500"/>
            </a:avLst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/ маржа в месяц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92640" y="1938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бизнеса — за неё отвечают все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1560" y="2788920"/>
            <a:ext cx="8275320" cy="731520"/>
          </a:xfrm>
          <a:prstGeom prst="roundRect">
            <a:avLst>
              <a:gd name="adj" fmla="val 7500"/>
            </a:avLst>
          </a:prstGeom>
          <a:solidFill>
            <a:srgbClr val="EDF4E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8036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покупатели × частота × чек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92640" y="2898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ветви: маркетинг · продукт · ассортимент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554480" y="3749040"/>
            <a:ext cx="7772400" cy="731520"/>
          </a:xfrm>
          <a:prstGeom prst="roundRect">
            <a:avLst>
              <a:gd name="adj" fmla="val 7500"/>
            </a:avLst>
          </a:prstGeom>
          <a:solidFill>
            <a:srgbClr val="ED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активация ≤7д (26%) · 2-й заказ ≤30д (34%)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2640" y="3858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input-метрики конкретных команд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057400" y="4709160"/>
            <a:ext cx="7269480" cy="731520"/>
          </a:xfrm>
          <a:prstGeom prst="roundRect">
            <a:avLst>
              <a:gd name="adj" fmla="val 7500"/>
            </a:avLst>
          </a:prstGeom>
          <a:solidFill>
            <a:srgbClr val="ED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480060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выдачи · цены · промо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92640" y="48188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рычаги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мобильной среде то же называют пирамидой метрик: NSM на вершине, 3–4 уровня входов вниз.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ДЕРЕВА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сверху — input внизу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— отвечают все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190195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деньги, NSM; если input вырос, а output нет — сломан «провод»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— у каждой владелец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295351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конкретная команда отвечает за конкретный вход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Ветвей — 3–5, не 20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400507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дерево, где всё важно, — это не дерево, а дашборд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5029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— «из чего?»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505663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«что бы ещё положить»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ПАНТЕОН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типов метрик и их горизонты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840480"/>
                <a:gridCol w="1920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Вопрос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Примеры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Горизонт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Продуктовые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доставляем ли ценность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retention, активация, частота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недели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Бизнес-короткие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растём ли сейчас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GMV, маржа, CAC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месяц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Бизнес-длинные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выживем 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LTV, payback, LTV/CAC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кварталы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Операционные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всё ли работает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 доставки, crash 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Маркетинговые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умеем ли покупать рост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по каналам, доля органики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месяц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КАРТА, НЕ РЕЛИГИЯ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AARRR и RARRA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AARRR — Acquisition, Activation, Retention, Revenue, Referral. </a:t>
            </a:r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Тащит «расти вшиву»: сначала трафик, потом разберёмся.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RARRA — Retention, Referral, Revenue, Activation, Acquisition. </a:t>
            </a:r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Напоминает: удержание дешевле привлечения.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использование: чек-лист покрытия — у каждой стадии 1–2 метрики. Для зрелого «Лукошко» фокус — R + R: удержание и рефералы; привлечение живёт в маркетинге (недели 5–6).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0424160" cy="1005840"/>
          </a:xfrm>
          <a:prstGeom prst="roundRect">
            <a:avLst>
              <a:gd name="adj" fmla="val 7273"/>
            </a:avLst>
          </a:prstGeom>
          <a:solidFill>
            <a:srgbClr val="EDF4E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12064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для каждой стадии воронки должно быть 1–2 метрики с владельцем. Пустая стадия = слепая зона.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КОГОРТЫ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Любое среднее без когорт — улика, а не вывод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Когорта — группа пользователей, объединённая датой события (регистрация) или свойством (канал, устройство).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резать: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новых когорт падает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0" y="327355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retention «улучшается» из-за свежих когорт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0507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дают разное качество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418795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CAC и LTV прячут плохой канал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Промо-когорта размывает картину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0" y="510235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«Чёрная пятница» держится вдвое хуже — увидим на занятии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кривой и плато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n-day retention — доля когорты, вернувшаяся в день n. Кривая: резкое падение в первые дни → плато. Плато = продукт «держит».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Полезный приём — «flatten the curve»: сравнивать не day-7, а высоту плато. Ранний d7 и плато — разные сигналы; решение — по плато.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активация «Лукошко»: первый заказ ≤ 7 дней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4023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035040" y="4892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в retention 6 мес у доехавших до 2-го заказа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DAU/MAU бывает адекватен частоте потребности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«Лукошко»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Когда нормальна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DAU/MAU ≈ 0,32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хорошо для FMCG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бытовые потребности — часто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DAU/MAU ≈ 0,05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нормально для авиабилетов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редкие события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WAU/MAU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лучше для low-frequency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покупки 1–2 раза в месяц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 растёт от регистраций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0" y="41879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смотрите DAU по когортам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91947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«тянется» долгожителями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0" y="50566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размазывает свежие провалы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57881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5897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Мобильный словарь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0" y="59253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factor = DAU/MAU · PCU/ACU · RPR · LTD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ML-ФИЧ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+ guardrails — до старта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Proxy-метрика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206240" y="1901952"/>
            <a:ext cx="7223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короткий предвестник длинного эффекта: «добавления в корзину из выдачи» вместо GMV через квартал. Связь с целевой метрикой — проверена на истории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649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206240" y="3502152"/>
            <a:ext cx="7223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вреда, которая не должна проехать: маржа, возвраты, время выдачи, отписки. Ставится ДО запуска, порог — ДО запуска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EDF4E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4406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курса: каждая ML-фича получает 1 proxy-метрику и 2–3 guardrail до старта. Не можете выбрать guardrail — не понимаете, чем фича может навредить.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ENGAGEMENT-ОПТИМИЗАЦИЯ, КОТОРАЯ СОЖГЛА КОГОРТУ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«Лукошко»: целевая — open rate 7 дней</a:t>
            </a:r>
            <a:endParaRPr lang="en-US" sz="2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463040"/>
                <a:gridCol w="1645920"/>
                <a:gridCol w="1645920"/>
                <a:gridCol w="1828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Вариант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Push/нед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Отписки/мес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 d30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Маржа/юзер/мес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Было (фикс. 3 пула)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 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Стало (модель, до 12)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 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319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rate вырос — модель «успешна» по своей целевой. </a:t>
            </a:r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она выучила механику (больше пушей → больше открытий), а раздражение копится с лагом. Retention d30 смотрят с задержкой — его не включили в цикл оптимизации.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53949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Разбор: proxy без проверенной связи с целевой метрикой + guardrail постфактум. Та же ошибка, что у RecSys недели 1 — на другом участке воронки.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 · ДОМАШКА И ЗАНЯТИЕ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Ноутбук: retention, когорты, дерево метрик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ДОМАШКА — дерево метрик своего проекта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NSM + тест на NSM · дерево: 3–5 input-ветвей с владельцами · 2 guardrail для гипотетической ML-фичи (с порогами) · какая метрика геймится первой?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— ноутбук на данных «Лукошко»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28803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DAU/MAU и stickiness · retention-кривые по каналам · когортная матрица · расследование провала когорты · график-враньё vs график для CPO.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неделя: воронка, точки роста и почему цифры врут — Симпсон, конфаундеры, сломанное логирование.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Курс «Продуктовая и маркетинговая аналитика»</dc:creator>
  <cp:lastModifiedBy>Курс «Продуктовая и маркетинговая аналитика»</cp:lastModifiedBy>
  <cp:revision>1</cp:revision>
  <dcterms:created xsi:type="dcterms:W3CDTF">2026-09-03T05:13:06Z</dcterms:created>
  <dcterms:modified xsi:type="dcterms:W3CDTF">2026-09-03T05:13:06Z</dcterms:modified>
</cp:coreProperties>
</file>