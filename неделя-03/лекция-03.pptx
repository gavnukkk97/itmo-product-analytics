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TALENT HUB · ИТМО · БЛОК «ПРОДУКТОВОЕ МЫШЛЕНИЕ»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Воронка, точки роста и почему цифры врут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</a:t>
            </a:r>
            <a:pPr indent="0" marL="0">
              <a:buNone/>
            </a:pPr>
            <a:r>
              <a:rPr lang="en-US" sz="22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Симпсон, конфаундеры, сломанное логирование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лекций + 8 занятий · 3 з.е. · зачёт по мини-проекту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вида воронок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4480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21808" y="44988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Капля ≠ рычаг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Парадокс Симпсона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5303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21808" y="53218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Вруны дашборда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АНАТОМИЯ ПУТИ ПОЛЬЗОВАТЕЛЯ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вида воронок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76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ШАГОВАЯ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→ поиск → корзина → заказ. Считает шаги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5876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176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ПОТОКОВАЯ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560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пути: хвосты и обходные тропы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6208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176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AHA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560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ценности: активация → второй заказ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выбор: шаговая — для чекаута; потоковая — для навигации и поиска; aha-прогрев — для активации и удержания. Три фокуса одной воронки.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Шаговая воронка обезличивает пути: часть заказов идёт в 2 клика из поиска мимо корзины.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«ПЕРЕВАЛ» «ЛУКОШКО»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Воронка до aha-момента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677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3580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2900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22677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ЗАКАЗ ≤7Д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0168" y="2651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1616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0936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22677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2-Й ЗАКАЗ ≤30Д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2651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796528" y="26974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89720" y="21031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9390888" y="226771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6 МЕС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90888" y="265176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 vs 19%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доехавших до второго заказа удержание на горизонте 6 месяцев втрое выше. Это наблюдение, не причинность: «дотащить всех до второго заказа» ещё надо уметь проверить — экспериментом.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5669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— гипотеза. Эксперимент — доказательство. Эта фраза — стержень всей недели.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ИСКАТЬ ТОЧКИ РОСТА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= объём × конверсия × ценность</a:t>
            </a:r>
            <a:endParaRPr lang="en-US" sz="2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Капля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Потери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Почему может быть НЕ рычаг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Корзина → заказ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огромный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чекаут уже вылизан; следующий п.п. стоит дороже, чем даёт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Поиск → корзина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большой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половина поисков — «посмотреть цену», конверсия честно нулевая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1-й заказ → 2-й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downstream value ×3 — маленькая капля здесь дороже большой выше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Приоритет: не размер капли, а эффект на деньги = капля × downstream value × достижимость.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ПЕРЕД СТАРТОМ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 «улучшим конверсию шага 3»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мешает?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механизм или десять разных?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" y="2551176"/>
            <a:ext cx="0" cy="76809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3558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потолок?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33832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какую долю потерь можно снять вообще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" y="3922776"/>
            <a:ext cx="0" cy="768096"/>
          </a:xfrm>
          <a:prstGeom prst="line">
            <a:avLst/>
          </a:prstGeom>
          <a:noFill/>
          <a:ln w="19050">
            <a:solidFill>
              <a:srgbClr val="1E6B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709160"/>
            <a:ext cx="566928" cy="566928"/>
          </a:xfrm>
          <a:prstGeom prst="ellipse">
            <a:avLst/>
          </a:prstGeom>
          <a:solidFill>
            <a:srgbClr val="1E6B4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709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727448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стоит п.п.?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47548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следующего пункта конверсии против его дохода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217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Вопрос-фильтр для каждой «очевидной» точки роста перед тем, как команда начнёт работать.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КОРРЕЛЯЦИЯ ≠ ПРИЧИННОСТЬ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Переменная-третейский судья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Покупатели, которые пользуются поиском, покупают чаще. Вывод «поиск продаёт»? Нет: мотивированные покупатели и ищут, и покупают. Корреляция — через общую причину.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реплики одной ошибки: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 премиум-баннером покупают чаще»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354787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баннер показывали уже мотивированным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306824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416552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«Города с нашей доставкой растут быстрее»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4443984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заходили в растущие города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02936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312664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«Модель включили — GMV вырос»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669280" y="5340096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был сезонный, модель зашла в сезон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вопрос аналитика: что было бы с этими же людьми без X? — контрфактический вопрос.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МИНИМАЛЬНЫЙ СЛОВАРЬ ПРИЧИННОСТИ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языка для точности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Потенциальные исходы.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= Y(1) − Y(0): «что стало при контакте» минус «что было бы без». Наблюдаем всегда только один исход — в этом вся сложность.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DAG-lite. </a:t>
            </a:r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Рисуем стрелки: «канал → покупка», «мотивация → канал», «мотивация → покупка». Если стрелка входит в обе ноды — это конфаундер, он портит сравнение. Полный язык DAG-ов — за пределами курса; достаточно видеть конфаундера.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Больше ковариат ≠ лучше: «плохие контролы» (коллайдеры) сами создают ложные связи.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ПАРАДОКС СИМПСОНА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Агрегат вырос. В каждом канале — упал.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1463040"/>
                <a:gridCol w="1280160"/>
                <a:gridCol w="1554480"/>
                <a:gridCol w="1463040"/>
                <a:gridCol w="12801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Канал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М1: визиты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М1: заказы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М1 CR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М2: визиты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М2: заказы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М2 CR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4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Контекст-бренд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CPA-сети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1 600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Итого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4 760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4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4,76%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92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Дашборд: «конверсия выросла на 70%, отличная работа». Правда: в каждом канале она упала.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экзотика: меняется микс каналов/устройств/рынков — и среднее врёт по составу. Каждый квартал.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СИМПСОНА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Изменился микс — доля брендового контекста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Запустили брендовую кампанию → доля брендового контекста выросла с 20% до 80% визитов. Это канал с высокой конверсией — среднее поехало вверх, хотя каждая часть просела.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на практике: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Среднее рядом со структурой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0" y="3593592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показывать доли сегментов рядом с любым средним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352544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462272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Фиксировать структуру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4489704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взвешивать по составу базового периода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248656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358384"/>
            <a:ext cx="4937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Разрезы обязательны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5385816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 × устройство × рынок × когорта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ВЕРИТЬ С ОСТОРОЖНОСТЬЮ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вруна дашборда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Сегмент / микс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1901952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Симпсон. Лекарство: разрезы рядом со средним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2461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Сезон / события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3273552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сравнивать с аналогичным периодом, нормировать коэффициентом сезонности, смотреть контроль без события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50799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61772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Логирование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4645152"/>
            <a:ext cx="7040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намерение (фронт) ≠ факт (бэк); adblock режет до ~20% событий; события без таксономии параметров = археология вместо аналитики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— интервью со свидетелем, который может врать по глупости и по забывчивости. Перепроверяйте: сырой лог, сверка с бизнес-цифрами.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ДВА ВРУНА — ШУМ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 к среднему и закон малых чисел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 к среднему. </a:t>
            </a:r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чек: 612 → 643 → 598 → 651 ₽. «Растёт со скачками»? Нет — шум вокруг среднего; экстремумы соседних недель почти не коррелируют. «Лучший месяц» против «обычного» гарантированно «обнаружит» падение.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малых чисел. </a:t>
            </a:r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«Новая выдача лучше — конверсия 4 из 5». И один крупный заказ (180 000 ₽) сдвигает средний чек на ощутимые рубли. Выбросы — смотреть до выводов: медиана, винзоризация.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0424160" cy="1005840"/>
          </a:xfrm>
          <a:prstGeom prst="roundRect">
            <a:avLst>
              <a:gd name="adj" fmla="val 7273"/>
            </a:avLst>
          </a:prstGeom>
          <a:solidFill>
            <a:srgbClr val="EDF4E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23036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Правило: вывод по динамике — только после нормализации на сезон, выбросы и состав (микс).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ЛЕКЦИЯ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И ПРИЧИНА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≠ причина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76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ВИДИТ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топ-признак покупки — «клики на премиум-баннер»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5876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176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РЕШАЕТ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53128" y="25603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«покажем баннер всем — вырастут покупки»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6208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217627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6448" y="25603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нулевой или минус: раздражение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— предсказательная сила на исторических данных с их смещениями. Баннер показывали мотивированным — модель выучила следствие, не причину.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53949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Важность признака отвечает «что отличает покупателей», а не «что сделает покупателем».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ML-ПРИМЕР НЕДЕЛИ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Propensity-to-buy на конвертированных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DF4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305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5146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покупатели (10%) vs непокупатели (90%)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9008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DF4EF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1305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ВЫУЧИЛА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5146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признаки, отличающие покупателей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82472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DF4EF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21305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СМЕЩЕНИЕ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19088" y="25146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покупателей — мотивированные и промо-охотники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59368" y="265176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052560" y="196596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E8590C"/>
          </a:solidFill>
          <a:ln/>
        </p:spPr>
      </p:sp>
      <p:sp>
        <p:nvSpPr>
          <p:cNvPr id="18" name="Text 16"/>
          <p:cNvSpPr/>
          <p:nvPr/>
        </p:nvSpPr>
        <p:spPr>
          <a:xfrm>
            <a:off x="9253728" y="2130552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E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ПРОДЕ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3728" y="25146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«высокая вероятность» = «уже горит»: им и так купят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кампании — перекладывание бюджета и нулевой инкремент. Связка: недели 6–7 (атрибуция и uplift).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88552" y="384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ML-ПРИМЕР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ТЕХНИЧЕСКИЕ МИНЫ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714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и lookalike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297680" y="1993392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 «сумма корзины в текущей сессии» фиксируется ПОСЛЕ решения о покупке. AUC 0.9+ и нулевой продовый смысл. Правило: каждая фича существует до момента решения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02152"/>
            <a:ext cx="11091672" cy="0"/>
          </a:xfrm>
          <a:prstGeom prst="line">
            <a:avLst/>
          </a:prstGeom>
          <a:noFill/>
          <a:ln w="12700">
            <a:solidFill>
              <a:srgbClr val="D8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1188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 от платящих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97680" y="3639312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усиливает смещение недели: выбираем ещё более «таких же, как купившие», а рынок расширения живёт в непохожих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Правильная постановка — не «кто купит» (response), а «кого изменит вмешательство» (uplift). Анонс недели 7.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 · ДОМАШКА И ЗАНЯТИЕ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«Узкое место», которое, скорее всего, не причина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ДОМАШКА — гипотеза роста своего проекта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увидели → механизм → почему это может быть НЕ причина → как отличить. Минус-балл за «улучшим UX → вырастет retention».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C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ЗАНЯТИЕ — кейс «Лукошко» с подвохом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0" y="31089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Разминка: «DAU −5% на Android» и «ресторан −33%». Основной кейс: рост конверсии при падении в каждом канале + сломанное логирование + спроектировать трекинг новой фичи.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неделя: юнит-экономика — LTV, CAC, payback и почему средний LTV — самая дорогая цифра в отчёте.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000232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A0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Курс «Продуктовая и маркетинговая аналитика»</dc:creator>
  <cp:lastModifiedBy>Курс «Продуктовая и маркетинговая аналитика»</cp:lastModifiedBy>
  <cp:revision>1</cp:revision>
  <dcterms:created xsi:type="dcterms:W3CDTF">2026-09-03T05:11:15Z</dcterms:created>
  <dcterms:modified xsi:type="dcterms:W3CDTF">2026-09-03T05:11:15Z</dcterms:modified>
</cp:coreProperties>
</file>