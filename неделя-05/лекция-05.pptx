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3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C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TALENT HUB · ИТМО · БЛОК «ПРОДУКТОВОЕ МЫШЛЕНИЕ»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Маркетинг: цели, привлечение, каналы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32461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5 · </a:t>
            </a:r>
            <a:pPr indent="0" marL="0">
              <a:buNone/>
            </a:pPr>
            <a:r>
              <a:rPr lang="en-US" sz="2200" dirty="0">
                <a:solidFill>
                  <a:srgbClr val="CF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CPA — не то, чем кажется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A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лекций + 8 занятий · 3 з.е. · зачёт по мини-проекту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4805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5568" y="449884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Четыре цели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44805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321808" y="449884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Карта каналов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5303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15568" y="532180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Экономика канала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5303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21808" y="532180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pCVR и биддинг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A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5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ЧЕТЫРЕ ЦЕЛИ МАРКЕТИНГА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Привлечение · активация · удержание · бренд</a:t>
            </a:r>
            <a:endParaRPr lang="en-US" sz="2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108960"/>
                <a:gridCol w="3291840"/>
                <a:gridCol w="20116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Цель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Вопрос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Метрики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Горизонт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Привлечение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откуда приходят новые?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CAC, новые покупатели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недели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Активация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доводим ли до ценности?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активация ≤7д, time-to-value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дни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Удержание / возврат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возвращаем ли?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повторные заказы, win-back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месяцы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Знание бренда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нас ли вспоминают?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top-of-mind, recall, поиск бренда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кварталы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120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Первые три — перформанс: измеримо, user-level. Бренд — замеры опросами, дороже и позже, но именно она снижает CAC в долгую.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5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СЛОВАРЬ ДЛЯ AI-ИНЖЕНЕРА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Бренд vs перформанс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87452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Перформанс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754880" y="1901952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клик → заказ → маржа; быстрые продажи, измеримая атрибуция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862072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297180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Бренд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54880" y="2999232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спрос создают контент, инфлюенсеры, ТВ; эффект — кварталами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959352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406908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Правило 60/40 (Binet &amp; Field)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54880" y="4096512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роста в долгую: ~60% бюджета в бренд, 40% в активацию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5056632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166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88720" y="516636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стартапа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54880" y="5193792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доля бренда меньше (0–20%), но «не-платный спрос» (контент, комьюнити) — ваш будущий бренд, он же SEO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5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ИНСТРУМЕНТЫ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Карта каналов: что на что работает</a:t>
            </a:r>
            <a:endParaRPr lang="en-US" sz="2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651760"/>
                <a:gridCol w="2651760"/>
                <a:gridCol w="347472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Канал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Работает на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Трекинг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Ключевой риск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SEO / органика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привлечение + бренд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плохо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алгоритмы платформ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Контекст (поиск)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горячий спрос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хорошо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дорогие клики, каннибализация бренда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Таргет / соцсети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спрос + похожесть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средне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«похожие на купивших» = смещение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CPA-сети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объём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«хорошо» (научились врать)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промо-охотники, cookie stuffing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Инфлюенсеры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бренд + доверие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плохо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 посчитать честно → недооценка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ТВ / OOH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бренд, массовость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нет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замер только гео/волнами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5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МЫ ВООБЩЕ ВИДИМ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Градации качества трекинга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EDF4EF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176272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ЛОГИН / ID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256032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промокод, install referrer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081528" y="260604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474720" y="201168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EDF4EF"/>
          </a:solidFill>
          <a:ln/>
        </p:spPr>
      </p:sp>
      <p:sp>
        <p:nvSpPr>
          <p:cNvPr id="10" name="Text 8"/>
          <p:cNvSpPr/>
          <p:nvPr/>
        </p:nvSpPr>
        <p:spPr>
          <a:xfrm>
            <a:off x="3675888" y="2176272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ID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75888" y="256032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GAID; на iOS — только с согласия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07608" y="260604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400800" y="201168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EDF4EF"/>
          </a:solidFill>
          <a:ln/>
        </p:spPr>
      </p:sp>
      <p:sp>
        <p:nvSpPr>
          <p:cNvPr id="14" name="Text 12"/>
          <p:cNvSpPr/>
          <p:nvPr/>
        </p:nvSpPr>
        <p:spPr>
          <a:xfrm>
            <a:off x="6601968" y="2176272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ВЕРОЯТНОСТНО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01968" y="256032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fingerprint, окно ≤24 ч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933688" y="260604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326880" y="201168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E8590C"/>
          </a:solidFill>
          <a:ln/>
        </p:spPr>
      </p:sp>
      <p:sp>
        <p:nvSpPr>
          <p:cNvPr id="18" name="Text 16"/>
          <p:cNvSpPr/>
          <p:nvPr/>
        </p:nvSpPr>
        <p:spPr>
          <a:xfrm>
            <a:off x="9528048" y="2176272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E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НИКАК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528048" y="256032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ТВ, OOH, часть инфлюенсеров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42976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Чем ниже градация — тем больше вранья в «пути» пользователя. Отсутствие клика ≠ отсутствие эффекта, а «не можем посчитать» ≠ «не существует».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48640" y="53492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iOS/ATT, запрет third-party cookies, walled gardens: доля «серой зоны» растёт — инкрементальность (неделя 6) становится не хобби, а выживанием.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5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СКВОЗНАЯ АНАЛИТИКА КАК ЦЕПОЧКА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Расходы + визиты + сделки — и где она рвётся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EDF4EF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130552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РАСХОДЫ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25146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рекламные кабинеты, API/CSV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58768" y="246888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251960" y="196596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EDF4EF"/>
          </a:solidFill>
          <a:ln/>
        </p:spPr>
      </p:sp>
      <p:sp>
        <p:nvSpPr>
          <p:cNvPr id="10" name="Text 8"/>
          <p:cNvSpPr/>
          <p:nvPr/>
        </p:nvSpPr>
        <p:spPr>
          <a:xfrm>
            <a:off x="4453128" y="2130552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ВИЗИТЫ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53128" y="25146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ID счётчика в CRM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562088" y="246888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955280" y="196596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EDF4EF"/>
          </a:solidFill>
          <a:ln/>
        </p:spPr>
      </p:sp>
      <p:sp>
        <p:nvSpPr>
          <p:cNvPr id="14" name="Text 12"/>
          <p:cNvSpPr/>
          <p:nvPr/>
        </p:nvSpPr>
        <p:spPr>
          <a:xfrm>
            <a:off x="8156448" y="2130552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СДЕЛКИ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56448" y="25146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CRM: оплачен / отменён / спам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3794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6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Пять типовых разрывов цепочки: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4206240"/>
            <a:ext cx="10424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окно связки «визит → заказ» ограничено (~21 день в Метрике) — длинные решения выпадают</a:t>
            </a:r>
            <a:endParaRPr lang="en-US" sz="14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ID живёт ~1 год и привязан к паре «браузер + устройство» — кросс-девайс не сшивается</a:t>
            </a:r>
            <a:endParaRPr lang="en-US" sz="14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объявления ≠ адрес сайта в счётчике → расходы не подгружаются в отчёт</a:t>
            </a:r>
            <a:endParaRPr lang="en-US" sz="14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коллтрекинг разрывает цепочку — Client ID не проброшен через звонок/чат</a:t>
            </a:r>
            <a:endParaRPr lang="en-US" sz="14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заказы до подключения интеграции не привязываются никогда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5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МОБИЛЬНАЯ СПЕЦИФИКА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MMP: клик → SDK → постбек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874520"/>
            <a:ext cx="3657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сшивает установку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389120" y="1901952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MMP-трекеры: AppsFlyer, Adjust, AppMetrica; рекламная система получает постбек о конверсии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227832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3337560"/>
            <a:ext cx="3657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Идентификация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389120" y="3364992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Android: install referrer (почти 100%), GAID; iOS после ATT: вероятностный матчинг (окно ≤24 ч) и SKAdNetwork (агрегированные постбэки Apple)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4690872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4800600"/>
            <a:ext cx="3657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Ценностные модели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389120" y="4828032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CPI (за установку) / CPC / CPA (за событие) — что покупаете, то и получаете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48640" y="60350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Мобильная атрибуция — про методы сшивки, и у каждого метода своё окно и своя слепая зона (развёрнуто в неделе 6).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5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СЛОВАРЬ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CPM → CPC → CPL → CPO — и русский слой</a:t>
            </a:r>
            <a:endParaRPr lang="en-US" sz="2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206240"/>
                <a:gridCol w="384048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Метрика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Формула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Ловушка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CPM → CPC → CPL → CPO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цепочка конверсий между шагами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каждый шаг — зона потерь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ROMI / ROI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(маржа от маркетинга − расходы) / расходы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спор о разнице слов не стоит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ROAS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выручка / расходы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 маржа! завышает здоровье при низкой марже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ДРР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расходы / выручка (обратный ROAS)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ДРР 12% при марже 9% = минус, хотя ROAS «приличный»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2578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ROAS по когортам → payback: ROAS первой недели у FMCG низкий; смотреть когорту в динамике 4–12 недель против целевого payback канала.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5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ОТЧЁТ МАРКЕТИНГА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Наивная таблица каналов «Лукошко»</a:t>
            </a:r>
            <a:endParaRPr lang="en-US" sz="2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554480"/>
                <a:gridCol w="1554480"/>
                <a:gridCol w="1554480"/>
                <a:gridCol w="1463040"/>
                <a:gridCol w="219456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Канал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Доля новых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CAC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LTV12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LTV/CAC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Вердикт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Органика / SEO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39%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~60 ₽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2 800 ₽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высокий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инвестировать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Контекст: бренд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14%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380 ₽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2 600 ₽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6,8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лучший?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Контекст: категории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17%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950 ₽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1 900 ₽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2,0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рабочий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Таргет / соцсети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1 150 ₽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1 500 ₽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на грани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CPA-сети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12%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1 400 ₽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1 250 ₽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закрыть?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Инфлюенсеры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5%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1 900 ₽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2 300 ₽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закрыть?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0350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эти вердикты — гипотезы. Три вопроса — следующий слайд.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5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ВЕРДИКТЫ ВРУТ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вопроса к таблице каналов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66928" cy="566928"/>
          </a:xfrm>
          <a:prstGeom prst="ellipse">
            <a:avLst/>
          </a:prstGeom>
          <a:solidFill>
            <a:srgbClr val="1E6B4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20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938528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Бренд-контекст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297680" y="1965960"/>
            <a:ext cx="6949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мы платим за тех, кто и так искал «Лукошко». Убери кампанию — сколько придёт бесплатно?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2104" y="2505456"/>
            <a:ext cx="0" cy="722376"/>
          </a:xfrm>
          <a:prstGeom prst="line">
            <a:avLst/>
          </a:prstGeom>
          <a:noFill/>
          <a:ln w="19050">
            <a:solidFill>
              <a:srgbClr val="1E6B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rgbClr val="1E6B4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246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17320" y="3264408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Доля органики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297680" y="3291840"/>
            <a:ext cx="6949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 растёт, если органика падает: «успешная» кампания убивает бесплатный канал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32104" y="3831336"/>
            <a:ext cx="0" cy="722376"/>
          </a:xfrm>
          <a:prstGeom prst="line">
            <a:avLst/>
          </a:prstGeom>
          <a:noFill/>
          <a:ln w="19050">
            <a:solidFill>
              <a:srgbClr val="1E6B4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4572000"/>
            <a:ext cx="566928" cy="566928"/>
          </a:xfrm>
          <a:prstGeom prst="ellipse">
            <a:avLst/>
          </a:prstGeom>
          <a:solidFill>
            <a:srgbClr val="1E6B47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572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4590288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 по каналу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297680" y="4617720"/>
            <a:ext cx="6949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LTV тех, кто пришёл, а не LTV, созданный каналом: CPA доедает чужие конверсии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" y="59893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CPA ради CPA: цель — инкрементальные заказы по приемлемой цене, а не низкий CPA ретаргета на лояльных.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5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ЗАМЕР БРЕНД-ЭФФЕКТА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Словарь брендовых метрик и лаг ~6 месяцев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87452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Top-of-mind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480560" y="190195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первый бренд, названный без подсказки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633472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27432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Спонтанное знание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80560" y="277063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назвали в списке без подсказки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502152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361188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Знание с подсказкой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480560" y="363931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«знаете ли вы X?»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370832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88720" y="44805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Адвокация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480560" y="450799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рекомендуют ли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562356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Замеряются опросами волнами (раз в квартал), стоят дорого, врут на малых выборках. Эффект бренд-кампаний виден как «ступенька» на поисковых запросах бренда через ~6 месяцев.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5 · ML-ПРИМЕР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В ЗАКУПКЕ ТРАФИКА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pCVR и auto-bidding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514600" cy="1691640"/>
          </a:xfrm>
          <a:prstGeom prst="roundRect">
            <a:avLst>
              <a:gd name="adj" fmla="val 4324"/>
            </a:avLst>
          </a:prstGeom>
          <a:solidFill>
            <a:srgbClr val="EDF4EF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221992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КЛИК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26060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аукцион показал объявление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081528" y="262890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474720" y="2057400"/>
            <a:ext cx="2514600" cy="1691640"/>
          </a:xfrm>
          <a:prstGeom prst="roundRect">
            <a:avLst>
              <a:gd name="adj" fmla="val 4324"/>
            </a:avLst>
          </a:prstGeom>
          <a:solidFill>
            <a:srgbClr val="EDF4EF"/>
          </a:solidFill>
          <a:ln/>
        </p:spPr>
      </p:sp>
      <p:sp>
        <p:nvSpPr>
          <p:cNvPr id="10" name="Text 8"/>
          <p:cNvSpPr/>
          <p:nvPr/>
        </p:nvSpPr>
        <p:spPr>
          <a:xfrm>
            <a:off x="3675888" y="2221992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pCVR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75888" y="26060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модель: вероятность конверсии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07608" y="262890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400800" y="2057400"/>
            <a:ext cx="2514600" cy="1691640"/>
          </a:xfrm>
          <a:prstGeom prst="roundRect">
            <a:avLst>
              <a:gd name="adj" fmla="val 4324"/>
            </a:avLst>
          </a:prstGeom>
          <a:solidFill>
            <a:srgbClr val="EDF4EF"/>
          </a:solidFill>
          <a:ln/>
        </p:spPr>
      </p:sp>
      <p:sp>
        <p:nvSpPr>
          <p:cNvPr id="14" name="Text 12"/>
          <p:cNvSpPr/>
          <p:nvPr/>
        </p:nvSpPr>
        <p:spPr>
          <a:xfrm>
            <a:off x="6601968" y="2221992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СТАВКА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01968" y="26060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pCVR × ценность × коэффициент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933688" y="262890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326880" y="2057400"/>
            <a:ext cx="2514600" cy="1691640"/>
          </a:xfrm>
          <a:prstGeom prst="roundRect">
            <a:avLst>
              <a:gd name="adj" fmla="val 4324"/>
            </a:avLst>
          </a:prstGeom>
          <a:solidFill>
            <a:srgbClr val="EDF4EF"/>
          </a:solidFill>
          <a:ln/>
        </p:spPr>
      </p:sp>
      <p:sp>
        <p:nvSpPr>
          <p:cNvPr id="18" name="Text 16"/>
          <p:cNvSpPr/>
          <p:nvPr/>
        </p:nvSpPr>
        <p:spPr>
          <a:xfrm>
            <a:off x="9528048" y="2221992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КОНВЕРСИЯ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528048" y="26060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постбек, обучение с лагом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4251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ставки нужна откалиброванная вероятность (1% значит 1%), а не хорошее ранжирование: две модели с одинаковым AUC, одна завышает pCVR ×3 → ставка ×3 → перерасход. Калибровка (Platt/isotonic) — требование биддинга, не украшение.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48640" y="55778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Delayed feedback: конверсия приходит часами/днями после клика — оптимизатор, учитывающий только «мгновенные», переливает бюджет в быстрые и плохие сегменты.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5 · ML-ПРИМЕР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«УСПЕШНАЯ» КАМПАНИЯ, УБИВАЮЩАЯ LTV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Целевой CPA 300 ₽ — и что нашёл биддер</a:t>
            </a:r>
            <a:endParaRPr lang="en-US" sz="2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645920"/>
                <a:gridCol w="2926080"/>
                <a:gridCol w="292608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Сегмент трафика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Доживают до 2-го заказа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Маржа/заказ за год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Горячие бренд-запросы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480 ₽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1 260 ₽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Категорийные запросы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720 ₽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780 ₽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Дешёвые площадки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290 ₽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 ₽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7091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Кампании с целевым CPA 300 ₽ честно наполняют KPI — и перекладывают бюджет в самый дешёвый и самый мусорный трафик.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" y="55778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Разбор: вопрос сформулирован как «снизить CPA», а должен быть «купить инкрементальных покупателей с payback ≤ X». Метрика — proxy без guardrail по качеству. Проверка — не offline-метрика, а инкрементальный замер (недели 6 и 8).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3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5 · ДОМАШКА И ЗАНЯТИЕ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Куда крутить бюджет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8FC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ДОМАШКА — три канала своего продукта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5669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— обязательно «плохо трекаемый». Роль канала (создаёт спрос или собирает) · экономика в вилках · чем канал врёт · гипотеза «кто растит бизнес, а кто только отчёт».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766560" y="2377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8FC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ЗАНЯТИЕ — кейс «+15 млн бюджета»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766560" y="278892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Наивная эффективность → поправка на качество → план на +15 млн ₽/мес → KPI перформанс-команде вместо «CPA 1 400». Финал: вопрос атрибуции сознательно не закрываем — уводим в неделю 6.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60350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FA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Следующая неделя: атрибуция, инкрементальность и конкуренты — «кому приписать успех».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A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Курс «Продуктовая и маркетинговая аналитика»</dc:creator>
  <cp:lastModifiedBy>Курс «Продуктовая и маркетинговая аналитика»</cp:lastModifiedBy>
  <cp:revision>1</cp:revision>
  <dcterms:created xsi:type="dcterms:W3CDTF">2026-09-03T05:11:15Z</dcterms:created>
  <dcterms:modified xsi:type="dcterms:W3CDTF">2026-09-03T05:11:15Z</dcterms:modified>
</cp:coreProperties>
</file>