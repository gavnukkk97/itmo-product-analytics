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 · ИТМО · БЛОК «ПРОДУКТОВОЕ МЫШЛЕНИЕ»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Атрибуция, инкрементальность, конкуренты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6 · </a:t>
            </a:r>
            <a:pPr indent="0" marL="0">
              <a:buNone/>
            </a:pPr>
            <a:r>
              <a:rPr lang="en-US" sz="22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Кому приписать успех — и у кого стырить механику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лекций + 8 занятий · 3 з.е. · зачёт по мини-проекту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44988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атрибуции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21808" y="44988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Инкрементальность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303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5321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X5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5303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21808" y="5321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Конкурентная разведка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6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АТРИБУЦИЯ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касаний, четыре канала, один заказ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EDF4E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2199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БЛОГЕР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6060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узнал о бренде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395728" y="26517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88920" y="20574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EDF4EF"/>
          </a:solidFill>
          <a:ln/>
        </p:spPr>
      </p:sp>
      <p:sp>
        <p:nvSpPr>
          <p:cNvPr id="10" name="Text 8"/>
          <p:cNvSpPr/>
          <p:nvPr/>
        </p:nvSpPr>
        <p:spPr>
          <a:xfrm>
            <a:off x="2990088" y="222199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90088" y="26060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кликнул по запросу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36008" y="26517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0" y="20574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EDF4EF"/>
          </a:solidFill>
          <a:ln/>
        </p:spPr>
      </p:sp>
      <p:sp>
        <p:nvSpPr>
          <p:cNvPr id="14" name="Text 12"/>
          <p:cNvSpPr/>
          <p:nvPr/>
        </p:nvSpPr>
        <p:spPr>
          <a:xfrm>
            <a:off x="5230368" y="222199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УШЁЛ ДУМАТЬ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30368" y="26060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вернулся сам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76288" y="26517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269480" y="20574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EDF4EF"/>
          </a:solidFill>
          <a:ln/>
        </p:spPr>
      </p:sp>
      <p:sp>
        <p:nvSpPr>
          <p:cNvPr id="18" name="Text 16"/>
          <p:cNvSpPr/>
          <p:nvPr/>
        </p:nvSpPr>
        <p:spPr>
          <a:xfrm>
            <a:off x="7470648" y="222199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РЕТАРГЕТ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70648" y="26060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напоминание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16568" y="26517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509760" y="20574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E8590C"/>
          </a:solidFill>
          <a:ln/>
        </p:spPr>
      </p:sp>
      <p:sp>
        <p:nvSpPr>
          <p:cNvPr id="22" name="Text 20"/>
          <p:cNvSpPr/>
          <p:nvPr/>
        </p:nvSpPr>
        <p:spPr>
          <a:xfrm>
            <a:off x="9710928" y="222199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E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БРЕНД-ПОИСК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10928" y="26060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Атрибуция отвечает на три вопроса: кому платим и за что (бюджет) · что усилить/выключить (оптимизация) · какой KPI поставить менеджеру канала.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48640" y="53035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Атрибуция — правило распределения кредита за конверсию. Истины нет: контрфакт не наблюдаем. Выбор правила — политическое решение, меняющее бюджеты.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6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ПАНТЕОН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атрибуции и слепая зона каждой</a:t>
            </a:r>
            <a:endParaRPr lang="en-US" sz="2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3017520"/>
                <a:gridCol w="31089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Модель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Правило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Кому даёт кредит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Слепая зона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First-click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первое касание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спрос-создатели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закрывающие каналы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Last-click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последнее касание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«ловцы» (ретаргет, бренд-контекст)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вся верхняя воронка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non-direct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последнее не-прямое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«ловцы» без прямой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last-click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Линейная / time-decay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поровну / ближе — больше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компромисс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отличает важное от фонового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U-образная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40/20/40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первый + последний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середина пути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Data-driven (Shapley)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 вкладу из историй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«в среднем честно»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учится на корреляциях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Яндекс Метрике: «последний значимый переход» = last non-direct; «последний из Директа» — в пользу платного; «автоматическая» — data-driven с кросс-девайсом.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6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РАЗНЫХ ВЫБОРА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≠ метод атрибуции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96596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— правило кредита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120640" y="1993392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last, first, linear, data-driven: как делит кредит по видимым касаниям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31927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42900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— как увидеть контакт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3456432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детерминированная (логин, referrer, промокод) · вероятностная (fingerprint, ≤24 ч) · агрегированная приватная (iOS SKAN)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78231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89204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Слабый метод обесценивает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4919472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половина касаний не видна, любые веса распределяют шум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6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ЖЕРТВА ПАНЕЛИ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убивает last-click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Верх воронки исчезает из отчётов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03520" y="1901952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уезжает в закрывающие каналы; через два квартала новых покупателей меньше при «отличном CPA»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0175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Бренд выглядит бесполезным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3520" y="3044952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их конверсии съедает бренд-контекст: люди ищут бренд — последний клик у контекста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5079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1605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 легко злоупотребить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0" y="4187952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CPA-сети и ретаргет зарабатывают на перехвате чужих конверсий (cookie stuffing)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9379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53035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он всё-таки умеет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0" y="5330952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короткие пути и оперативная оптимизация внутри канала — метрика оператора, не стратегическая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6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ЖЕ САМОЕ, НО ИНДУСТРИАЛЬНО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Мобильный фрод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9659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Клик-флудинг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993392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массовые фейковые клики, чтобы стать «последним кликом» перед чужой установкой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8211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2918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Перехват установок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319272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hijacking в окне атрибуции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50799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6177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Защитные метрики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4645152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CTIT (время клик→установка: аномалии = фрод), поведенческие паттерны, фрод-модули трекеров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Мораль: «последний клик» — не только аналитическое искажение, но и экономический стимул для мошенников.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6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ИНКРЕМЕНТАЛЬНОСТЬ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случилось бы без этой кампании?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«сколько конверсий было у касания», а «сколько конверсий кампания создала». Разница между attributed и incremental — это «и так бы купили».</a:t>
            </a:r>
            <a:endParaRPr lang="en-US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383280"/>
                <a:gridCol w="292608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Метод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работает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Где применим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Цена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Geo-эксперимент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регионы с/без кампании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ТВ, бренд, крупные каналы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низкая, недели-месяцы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Holdout кампании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5–10% аудитории без показов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digital, своя база CRM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дёшево, каннибализация внутри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PSA / ghost ads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контрольным — «пустышку»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медиа-платформы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нужна платформа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MMM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регрессия продаж на медиа-активность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когда user-level нет вообще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месяцы, данные 2+ лет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6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ЗАМЕР В БОЮ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Geo-эксперимент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заказов в тестовых регионах против контрольных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0" y="2011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852160" y="28803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инкрементальность ретаргета в этом же замере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Дизайн: 20 регионов с кампанией, 20 без, 8 недель. Обязательна проверка параллельных трендов до кампании: если регионы шли не синхронно, «эффект» — просто разная динамика.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53949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Этого эффекта в last-click-отчёте не видно вообще.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6 · КЕЙС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ПРОМОКОДЫ, ПОСЧИТАННЫЕ ЧЕСТНО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X5: «с промо тратят на 800 ₽ больше»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EDF4E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2199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НАБЛЮДЕНИЕ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6060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промокодом тратят на ~800 ₽ больше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858768" y="26974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51960" y="20574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EDF4EF"/>
          </a:solidFill>
          <a:ln/>
        </p:spPr>
      </p:sp>
      <p:sp>
        <p:nvSpPr>
          <p:cNvPr id="10" name="Text 8"/>
          <p:cNvSpPr/>
          <p:nvPr/>
        </p:nvSpPr>
        <p:spPr>
          <a:xfrm>
            <a:off x="4453128" y="222199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ЧЕСТНАЯ ПРОВЕРКА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53128" y="26060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statistically равные пары (PSM) + динамика (DiD)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62088" y="26974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955280" y="20574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E8590C"/>
          </a:solidFill>
          <a:ln/>
        </p:spPr>
      </p:sp>
      <p:sp>
        <p:nvSpPr>
          <p:cNvPr id="14" name="Text 12"/>
          <p:cNvSpPr/>
          <p:nvPr/>
        </p:nvSpPr>
        <p:spPr>
          <a:xfrm>
            <a:off x="8156448" y="222199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E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6448" y="26060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инкрементальный эффект отрицательный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Скидку забирали те, кто и так бы купил; часть покупок просто переносилась на акционный период; «больше потратили» объяснялось составом (промо-охотники).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5486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−46 млн ₽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суммарный эффект программы промокодов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52160" y="5577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Наблюдаемая разница и причинный эффект бывают противоположных знаков — не в учебниках, а в квартальных отчётах.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6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РАНДОМИЗАЦИИ НЕТ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Псевдо-контроль и проверка метода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9659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/ PSM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993392"/>
            <a:ext cx="685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статистических двойников «получил / не получил» (кейс «Кинопоиск в Плюсе»: эффект подписки в супераппе)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7355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3832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control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410712"/>
            <a:ext cx="685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«двойник» региона из комбинации других регионов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8006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A/A-проверка метода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4828032"/>
            <a:ext cx="685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прогнать метод на периоде без вмешательства: если «находит эффект» там, где его нет, — методу нельзя верить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6 · ML-ПРИМЕР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ML-ПРИМЕР НЕДЕЛИ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атрибуция, которая рекомендует лить в ноль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EDF4E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2199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ML-АТРИБУЦИЯ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6060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Shapley-веса: ретаргет получает 38% кредита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858768" y="26517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51960" y="20574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EDF4EF"/>
          </a:solidFill>
          <a:ln/>
        </p:spPr>
      </p:sp>
      <p:sp>
        <p:nvSpPr>
          <p:cNvPr id="10" name="Text 8"/>
          <p:cNvSpPr/>
          <p:nvPr/>
        </p:nvSpPr>
        <p:spPr>
          <a:xfrm>
            <a:off x="4453128" y="222199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53128" y="26060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масштабируем ретаргет ×2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62088" y="26517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955280" y="20574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E8590C"/>
          </a:solidFill>
          <a:ln/>
        </p:spPr>
      </p:sp>
      <p:sp>
        <p:nvSpPr>
          <p:cNvPr id="14" name="Text 12"/>
          <p:cNvSpPr/>
          <p:nvPr/>
        </p:nvSpPr>
        <p:spPr>
          <a:xfrm>
            <a:off x="8156448" y="222199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E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GEO-ЗАМЕР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6448" y="26060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инкрементальность ретаргета ≈ 0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произошло: пути с ретаргетом — пути уже горячих пользователей (внутренний конфаундер недели 3). Shapley на исторических путях измеряет сопровождение, а не создание.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54406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ML-блеск весов не добавляет каузальности. Любая атрибуция — модель на наблюдаемых данных; контрфакт видит только эксперимент.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СЛАЙД НЕДЕЛИ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Attributed ≠ incremental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 атрибуции отвечает: </a:t>
            </a:r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«когда конверсия случилась, кто был рядом».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Инкрементальный замер отвечает: </a:t>
            </a:r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«кто её создал».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Бюджеты распределяем по второму.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6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 УСТРОЕНО У ЗРЕЛЫХ КОМАНД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Триангуляция: MTA + MMM + эксперименты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EDF4E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6771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6517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user-level: оперативность, детали путей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58768" y="26974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51960" y="210312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EDF4EF"/>
          </a:solidFill>
          <a:ln/>
        </p:spPr>
      </p:sp>
      <p:sp>
        <p:nvSpPr>
          <p:cNvPr id="10" name="Text 8"/>
          <p:cNvSpPr/>
          <p:nvPr/>
        </p:nvSpPr>
        <p:spPr>
          <a:xfrm>
            <a:off x="4453128" y="226771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53128" y="26517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бюджет, включая «нетрекаемое»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62088" y="26974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955280" y="210312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EDF4EF"/>
          </a:solidFill>
          <a:ln/>
        </p:spPr>
      </p:sp>
      <p:sp>
        <p:nvSpPr>
          <p:cNvPr id="14" name="Text 12"/>
          <p:cNvSpPr/>
          <p:nvPr/>
        </p:nvSpPr>
        <p:spPr>
          <a:xfrm>
            <a:off x="8156448" y="226771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6448" y="26517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калибровка обеих моделей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оценки канала; если расходятся — разобраться почему, это самое интересное. Одна линейка без двух других = врать одним способом вместо трёх.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53035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копнуть глубже: open-source Robyn от Meta — упрощённый MMM, который реально собирается силами одного аналитика.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6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БЕСПЛАТНЫЙ R&amp;D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Конкурентный анализ как источник гипотез</a:t>
            </a:r>
            <a:endParaRPr lang="en-US" sz="2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754880"/>
                <a:gridCol w="22860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Источник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даёт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Усилия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SimilarWeb / data.ai / Mediascope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трафик, аудитория, источники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низкий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Отчётность публичных компаний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экономика, приоритеты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низкий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Их вакансии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будущие фичи: «ищем ML в прайсинг» = будут прайсить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низкий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Парсинг каталога и цен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ассортимент, цены, промо-механики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средний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Отзывы на их продукт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их слабые места = ваши гипотезы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средний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Другой рынок (США, Китай, ЮВА)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механики, которые доедут через 1–3 года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высокий, ROI высокий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не «скопировать», а «какая механика решает какую проблему воронки — и есть ли она у нас»: подписка на доставку, кэшбэк баллами, двусторонний «приведи друга».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6 · ДОМАШКА И ЗАНЯТИЕ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Одни пути — разные модели — разные решения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ДОМАШКА — атрибуция у вас по умолчанию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стоит по умолчанию (last-click? last non-direct? UTM? «последний пуш»?) · кого переоценивает и кого недооценивает (с механизмом) · один инкрементальный замер, который поставили бы первым.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76656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ЗАНЯТИЕ — ноутбук атрибуции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0" y="31089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модели на одних путях → четыре бюджетных решения → geo-эксперимент с честной инкрементальностью → ретаргет из героя в ноль, инфлюенсер из мусора в рабочий.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Следующая неделя: удержание, CRM и цена — «кому не давать скидку».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Курс «Продуктовая и маркетинговая аналитика»</dc:creator>
  <cp:lastModifiedBy>Курс «Продуктовая и маркетинговая аналитика»</cp:lastModifiedBy>
  <cp:revision>1</cp:revision>
  <dcterms:created xsi:type="dcterms:W3CDTF">2026-09-03T05:11:16Z</dcterms:created>
  <dcterms:modified xsi:type="dcterms:W3CDTF">2026-09-03T05:11:16Z</dcterms:modified>
</cp:coreProperties>
</file>