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 · ИТМО · БЛОК «ПРОДУКТОВОЕ МЫШЛЕНИЕ»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Активация, удержание, CRM и цена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</a:t>
            </a:r>
            <a:pPr indent="0" marL="0"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«Кому не давать скидку» — самое profitable предложение недели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лекций + 8 занятий · 3 з.е. · зачёт по мини-проекту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и активация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2180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и каннибализация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и скидки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vs uplift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 НАЧИНАЕТСЯ В ПРОДУКТЕ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Aha-момент — продуктовая задача, не «догреть рассылкой»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2-й заказ ≤30д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aha-момент «Лукошко»: retention 6 мес ×3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 vs 19%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 у «доехавших» и остальных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aha — через продукт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38679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подбор, цены, доставка первого заказа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622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72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«Догреть рассылкой» тех, кто не получил ценность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45994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разгон метрики отправок, не активации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1937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3035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Рычаги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53309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сузить «первый успех», снизить трение чекаута, честные ожидания по доставке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«Aha» находят ретроспективно, а проверяют экспериментом: подтолкнуть часть новых к aha-действию → смотреть retention.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и цена ошибки каждого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474720"/>
                <a:gridCol w="3840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Канал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Скорость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Цена ошибки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Где уместен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мгновенно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отписка / удаление приложения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срочное, персональное, редкое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фильтр «спам», отписка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контент, чеки, дайджесты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мгновенно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дорого, раздражает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OTP, критичное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In-product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контексте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прятание интерфейса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навигация, офферы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Звонок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дорого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burnt trust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высокоценные сегменты (win-back VIP)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778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метрика CRM — не open rate (ванити), а инкрементальные покупки на 1000 коммуникаций; guardrail — отписки и удаления.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 ≠ СУММА ОТЧЁТОВ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Каннибализация каналов и holdout всей CRM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 забрал клики, которые сделал бы email → email-команда рапортует о падении, пуш — о росте. Суммарно — минус доверие и минус деньги.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EDF4E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375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5–10% всей базы без коммуникаций — единственный способ посчитать суммарный эффект CRM, а не перетоки между каналами.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Частота: у каждой пары «сегмент × канал» своя эластичность, и она падает с частотой — её и оптимизируем, а не open rate.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СЕГМЕНТАЦИЯ БАЗЫ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RFM: 27 рабочих сегментов вместо 125 красивых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— Recency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0195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давность последней покупки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— Frequency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86207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 покупок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794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— Monetary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82219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 покупок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754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Классика 5×5×5 = 125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47823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практика — 3×3×3 = 27: «VIP», «новые», «спящие», «уходящие киты»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852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недели 4 работает и здесь: сегмент жив, только если для него есть разное действие. RFM без действий — красивая сводная, а не CRM-стратегия.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ПРОГРАММЫ ЛОЯЛЬНОСТИ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или чистая субсидия?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ТАК БЫ ПОКУПАЛ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~70%: чистая субсидия — кэшбэк сверху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85876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20574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УБЕЖДАЕМЫЕ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606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~15%: настоящий эффект — чаще и больше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6208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55280" y="20574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МЕРКАНТИЛЬНЫЕ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606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покупают только по баллам: нулевая маржа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Кэшбэк 5% всем: если 70% участников — категория 1, вы раздаёте 3,5% оборота за эффект 15% участников.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программы — uplift-задача: тиринг статусов, целевые офферы, пороги-игровая механика — чтобы субсидия досталась убеждаемым.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ОПРОСНЫЕ МЕТРИКИ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/ CSAT / CES: что меряют и что нет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389120"/>
                <a:gridCol w="1737360"/>
                <a:gridCol w="3017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Вопрос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Горизонт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Для чего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«оцените конкретный опыт, 1–5»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событие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оперативный диагноз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«порекомендуете ли, 0–10»; % промоутеров − % детракторов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кварталы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температура отношений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«сколько усилий потребовалось»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обращение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предиктор оттока в поддержке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NPS: культурный сдвиг шкал (9–10 ставят реже), сдвиг по каналам опроса, малые выборки, слабая связь с деньгами отдельного месяца. NPS — не NSM и не замена retention; смотреть в динамике и разрезах (NPS доставки ≠ NPS ассортимента).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Скидка работает через эластичность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любой скидки: стоит ли −300 ₽ маржи прироста заказов? Эластичность спроса отвечает — но её надо измерять честно.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0424160" cy="1600200"/>
          </a:xfrm>
          <a:prstGeom prst="roundRect">
            <a:avLst>
              <a:gd name="adj" fmla="val 4571"/>
            </a:avLst>
          </a:prstGeom>
          <a:solidFill>
            <a:srgbClr val="EDF4E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Осторожно с «эластичностью из наблюдательных данных»: </a:t>
            </a:r>
            <a:pPr indent="0" marL="0">
              <a:buNone/>
            </a:pPr>
            <a:r>
              <a:rPr lang="en-US" sz="16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снижают, когда спрос уже упал (акции затевают на стагнирующие категории). Наивный коэффициент «скидка → продажи» смещён вниз, иногда в минус. Честная эластичность — только из случайных вариаций цены.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Инструменты: скидки, подарки, купоны, персональные акции, подписки с выгодой, бесплатная доставка от порога.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 ЦЕНЫ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Дискриминация vs персональная скидка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Ценовая дискриминация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1993392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цены за одинаковое — по willingness-to-pay. «За богатость» рискует репутацией и законом о защите прав потребителей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735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Персональная скидка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3410712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цены за одинаковое — по чувствительности к стимулу. «Скидка за возвращение» — норма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800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тонкая, но важная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4828032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 и этически; в РФ чаще достаточно сегментных механик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ЛОВУШКИ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персональная цена легко вредит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Эрозия доверия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1993392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соседа дешевле» — скриншот уходит в соцсети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821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ждать скидку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3319272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промежутки между акциями → редкие покупки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079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617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Каннибализация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4645152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скидка тем, кто и так покупал: эффект −, маржа 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Подарок вместо скидки: номинал 100 ₽ воспринимается дороже скидки 100 ₽, и по марже дешевле — если себестоимость ниже номинала.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ПРОВЕРЯТЬ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эксперимента со скидкой: 5 пунктов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Случайная выборка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874520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базы, 50/50 контроль/тритмент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" y="2414016"/>
            <a:ext cx="0" cy="292608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Первичная метрика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770632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инкрементальная маржа: (маржа тритмента − скидки) − маржа контроля, 30–60 дней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" y="3310128"/>
            <a:ext cx="0" cy="292608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21024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3931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3666744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отписки, доля промо-охотников, средний чек — пороги до старта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" y="4206240"/>
            <a:ext cx="0" cy="292608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17136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17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53542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4562856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12 000 человек и конверсии 30% ловим ≈ +2,5 п.п.; сегментный анализ — с поправкой на множественность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2104" y="5102352"/>
            <a:ext cx="0" cy="292608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413248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13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43153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Никаких «скидки по churn-модели»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46320" y="5458968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uplift-проверки (следующий блок)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РАЗБОР НЕДЕЛИ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vs uplift: не всем скидку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2194560"/>
                <a:gridCol w="37490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Подход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Целевая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Кого выбирает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Проблема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Churn-модель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P(купит | низкая)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«потерянных»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им скидка не помогает: деньги в трубу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наоборот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P(купит | высокая)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«и так купят»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субсидируем лояльных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Uplift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P(купит | контакт) − P(купит | без)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убеждаемых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нужен эксперимент в обучении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4864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 так купят» — скидка бесполезна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8056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48056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убеждаемые: скидка даёт +25 п.п.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841248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«потерянные» — скидка бесполезна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035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Response-модель «высокая вероятность покупки» выбирает первую группу: open rate отличный, инкрементальный эффект ≈ 0, маржа минус скидки. Считаем на занятии.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СЛОВАРЬ UPLIFT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типа, модели, метрика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типа по реакции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23360" y="1856232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 things · persuadables (целевые!) · lost causes · do-not-disturbs (скидка учит ждать промо). Ранжировать по разности, не по вероятности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учат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3090672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two-model, T-learner, S-learner (флаг воздействия как фича), X-learner (лучше всех при дисбалансе групп) — варианты одного вопроса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879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297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оценивают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4325112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AUC: у отдельного человека «истинного uplift» нет. Qini / AUUC — насколько глубоко ранжирование собирает эффект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532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Прагматизм и кейс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23360" y="5559552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look-alike по откликнувшимся — v0 до первого A/B; Booking.com: uplift-таргетинг поднял ROI кампаний с минуса до ~0,36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ВОКРУГ СКИДОК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Next-best-action и dynamic 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NBA. </a:t>
            </a:r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EV(действие) = uplift × ценность − cost − риск отписки × LTV. NBA без uplift-компоненты — просто правило «крути всех».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pricing. </a:t>
            </a:r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Одновременно продукт (восприятие справедливости), маркетинг (эластичность), ML (прогноз спроса) и этика/закон. Устойчиво: динамические цены на уровне сегментов/времени (часы пик, погода). Опасно: персональные цены.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LLM-рассылки. </a:t>
            </a:r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персональных писем: open rate +3 п.п., ответы «перестаньте писать мне лично» ×4. Open rate не видит разрушения доверия — оно кончается вне окна измерения. Guardrail: жалобы, отписки.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 · ДОМАШКА И ЗАНЯТИЕ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НЕ давать скидку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ДОМАШКА — вмешательство своего проекта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и гипотеза · экономика с порогом окупаемости · кого НЕЛЬЗЯ тащить (и почему) · дизайн проверки: группы, первичная метрика, guardrails, MDE.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— ноутбук response vs uplift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27889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Сырой A/B → response-модель и сколько денег она сожгла → uplift-разности в сегментах → экономика uplift-таргетинга → MDE следующего теста → memo для CMO.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неделя — финальная: эксперименты, оценка ML и decision memo.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Курс «Продуктовая и маркетинговая аналитика»</dc:creator>
  <cp:lastModifiedBy>Курс «Продуктовая и маркетинговая аналитика»</cp:lastModifiedBy>
  <cp:revision>1</cp:revision>
  <dcterms:created xsi:type="dcterms:W3CDTF">2026-09-03T05:11:16Z</dcterms:created>
  <dcterms:modified xsi:type="dcterms:W3CDTF">2026-09-03T05:11:16Z</dcterms:modified>
</cp:coreProperties>
</file>